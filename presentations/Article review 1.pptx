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079EC7-26C2-514B-EDB5-3EB2FC003073}" v="1878" dt="2025-12-09T15:18:18.7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2" d="100"/>
          <a:sy n="92" d="100"/>
        </p:scale>
        <p:origin x="48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2470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342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183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4653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9504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481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4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921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9826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5210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0603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635374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1292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18322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0014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15565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5972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35938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3182/20130916-2-tr-4042.00025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1524000" y="871843"/>
            <a:ext cx="9144000" cy="5122449"/>
          </a:xfrm>
        </p:spPr>
        <p:txBody>
          <a:bodyPr>
            <a:normAutofit fontScale="90000"/>
          </a:bodyPr>
          <a:lstStyle/>
          <a:p>
            <a:r>
              <a:rPr lang="el-GR" dirty="0"/>
              <a:t>ΠΑΡΟΥΣΙΑΣΗ ΑΡΘΡΟΥ:</a:t>
            </a:r>
            <a:br>
              <a:rPr lang="el-GR" dirty="0"/>
            </a:br>
            <a:br>
              <a:rPr lang="el-GR" dirty="0"/>
            </a:br>
            <a:r>
              <a:rPr lang="el-GR" sz="5300" dirty="0"/>
              <a:t> </a:t>
            </a:r>
            <a:r>
              <a:rPr lang="el-GR" sz="5300" dirty="0">
                <a:ea typeface="+mj-lt"/>
                <a:cs typeface="+mj-lt"/>
              </a:rPr>
              <a:t>"</a:t>
            </a:r>
            <a:r>
              <a:rPr lang="el-GR" sz="5300" err="1">
                <a:ea typeface="+mj-lt"/>
                <a:cs typeface="+mj-lt"/>
              </a:rPr>
              <a:t>Approaches</a:t>
            </a:r>
            <a:r>
              <a:rPr lang="el-GR" sz="5300" dirty="0">
                <a:ea typeface="+mj-lt"/>
                <a:cs typeface="+mj-lt"/>
              </a:rPr>
              <a:t> of </a:t>
            </a:r>
            <a:r>
              <a:rPr lang="el-GR" sz="5300" err="1">
                <a:ea typeface="+mj-lt"/>
                <a:cs typeface="+mj-lt"/>
              </a:rPr>
              <a:t>Road</a:t>
            </a:r>
            <a:r>
              <a:rPr lang="el-GR" sz="5300" dirty="0">
                <a:ea typeface="+mj-lt"/>
                <a:cs typeface="+mj-lt"/>
              </a:rPr>
              <a:t> </a:t>
            </a:r>
            <a:r>
              <a:rPr lang="el-GR" sz="5300" err="1">
                <a:ea typeface="+mj-lt"/>
                <a:cs typeface="+mj-lt"/>
              </a:rPr>
              <a:t>Boundary</a:t>
            </a:r>
            <a:r>
              <a:rPr lang="el-GR" sz="5300" dirty="0">
                <a:ea typeface="+mj-lt"/>
                <a:cs typeface="+mj-lt"/>
              </a:rPr>
              <a:t> and </a:t>
            </a:r>
            <a:r>
              <a:rPr lang="el-GR" sz="5300" err="1">
                <a:ea typeface="+mj-lt"/>
                <a:cs typeface="+mj-lt"/>
              </a:rPr>
              <a:t>Obstacle</a:t>
            </a:r>
            <a:r>
              <a:rPr lang="el-GR" sz="5300" dirty="0">
                <a:ea typeface="+mj-lt"/>
                <a:cs typeface="+mj-lt"/>
              </a:rPr>
              <a:t> </a:t>
            </a:r>
            <a:r>
              <a:rPr lang="el-GR" sz="5300" err="1">
                <a:ea typeface="+mj-lt"/>
                <a:cs typeface="+mj-lt"/>
              </a:rPr>
              <a:t>Detection</a:t>
            </a:r>
            <a:r>
              <a:rPr lang="el-GR" sz="5300" dirty="0">
                <a:ea typeface="+mj-lt"/>
                <a:cs typeface="+mj-lt"/>
              </a:rPr>
              <a:t> </a:t>
            </a:r>
            <a:r>
              <a:rPr lang="el-GR" sz="5300" err="1">
                <a:ea typeface="+mj-lt"/>
                <a:cs typeface="+mj-lt"/>
              </a:rPr>
              <a:t>Using</a:t>
            </a:r>
            <a:r>
              <a:rPr lang="el-GR" sz="5300" dirty="0">
                <a:ea typeface="+mj-lt"/>
                <a:cs typeface="+mj-lt"/>
              </a:rPr>
              <a:t> LIDAR"</a:t>
            </a:r>
          </a:p>
        </p:txBody>
      </p:sp>
    </p:spTree>
    <p:extLst>
      <p:ext uri="{BB962C8B-B14F-4D97-AF65-F5344CB8AC3E}">
        <p14:creationId xmlns:p14="http://schemas.microsoft.com/office/powerpoint/2010/main" val="2325122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85756D65-43E1-1FFE-BF55-F84A2A0A9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Είδη </a:t>
            </a:r>
            <a:r>
              <a:rPr lang="el-GR" dirty="0" err="1"/>
              <a:t>obstacles</a:t>
            </a:r>
            <a:r>
              <a:rPr lang="el-GR" dirty="0"/>
              <a:t>: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ADE2B91D-020C-D1F8-80C5-C4DD13F673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737" y="1144783"/>
            <a:ext cx="11107280" cy="557334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l-GR" dirty="0"/>
              <a:t>Τα εμπόδια που μπορεί να συναντήσει ένα αυτόνομο αμάξι, χωρίζονται σε δύο κατηγορίες:</a:t>
            </a:r>
          </a:p>
          <a:p>
            <a:pPr>
              <a:buClr>
                <a:srgbClr val="8AD0D6"/>
              </a:buClr>
            </a:pPr>
            <a:r>
              <a:rPr lang="el-GR" dirty="0"/>
              <a:t>ΦΥΣΙΚΑ EΜΠΟΔΙΑ (πχ. Αμάξια, μηχανές και γενικά οτιδήποτε μπορεί να βρίσκεται στον δρόμο)</a:t>
            </a:r>
          </a:p>
          <a:p>
            <a:pPr>
              <a:buClr>
                <a:srgbClr val="8AD0D6"/>
              </a:buClr>
            </a:pPr>
            <a:endParaRPr lang="el-GR" dirty="0"/>
          </a:p>
          <a:p>
            <a:pPr>
              <a:buClr>
                <a:srgbClr val="8AD0D6"/>
              </a:buClr>
            </a:pPr>
            <a:endParaRPr lang="el-GR" dirty="0"/>
          </a:p>
          <a:p>
            <a:pPr>
              <a:buClr>
                <a:srgbClr val="8AD0D6"/>
              </a:buClr>
            </a:pPr>
            <a:endParaRPr lang="el-GR" dirty="0"/>
          </a:p>
          <a:p>
            <a:pPr>
              <a:buClr>
                <a:srgbClr val="8AD0D6"/>
              </a:buClr>
            </a:pPr>
            <a:endParaRPr lang="el-GR" dirty="0"/>
          </a:p>
          <a:p>
            <a:pPr>
              <a:buClr>
                <a:srgbClr val="8AD0D6"/>
              </a:buClr>
            </a:pPr>
            <a:endParaRPr lang="el-GR" dirty="0"/>
          </a:p>
          <a:p>
            <a:pPr>
              <a:buClr>
                <a:srgbClr val="8AD0D6"/>
              </a:buClr>
            </a:pPr>
            <a:r>
              <a:rPr lang="el-GR" dirty="0"/>
              <a:t>ΛΟΓΙΚΑ ΕΜΠΟΔΙΑ (δηλαδή οτιδήποτε δεν μπορεί να περάσει το </a:t>
            </a:r>
            <a:r>
              <a:rPr lang="el-GR" dirty="0" err="1"/>
              <a:t>αυτοκινήτο</a:t>
            </a:r>
            <a:r>
              <a:rPr lang="el-GR" dirty="0"/>
              <a:t>, χωρίς να υπάρχει φυσικό εμπόδιο να το σταματάει, όπως για παράδειγμα είναι οι γραμμές του δρόμου.</a:t>
            </a:r>
          </a:p>
          <a:p>
            <a:pPr marL="0" indent="0">
              <a:buClr>
                <a:srgbClr val="8AD0D6"/>
              </a:buClr>
              <a:buNone/>
            </a:pPr>
            <a:r>
              <a:rPr lang="el-GR" dirty="0"/>
              <a:t>Δουλειά του </a:t>
            </a:r>
            <a:r>
              <a:rPr lang="el-GR" err="1"/>
              <a:t>LiDAR</a:t>
            </a:r>
            <a:r>
              <a:rPr lang="el-GR" dirty="0"/>
              <a:t> είναι ο εντοπισμός των φυσικών αντικειμένων, ενώ τα λογικά εμπόδια υπολογίζονται με βάση τα φυσικά.</a:t>
            </a:r>
          </a:p>
        </p:txBody>
      </p:sp>
      <p:pic>
        <p:nvPicPr>
          <p:cNvPr id="4" name="Εικόνα 3" descr="The Difference Between Road, Street, Avenue, &amp; Boulevard">
            <a:extLst>
              <a:ext uri="{FF2B5EF4-FFF2-40B4-BE49-F238E27FC236}">
                <a16:creationId xmlns:a16="http://schemas.microsoft.com/office/drawing/2014/main" id="{D6BE88F4-8056-E874-3080-472E664661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480" y="2619571"/>
            <a:ext cx="3750109" cy="1879817"/>
          </a:xfrm>
          <a:prstGeom prst="rect">
            <a:avLst/>
          </a:prstGeom>
        </p:spPr>
      </p:pic>
      <p:pic>
        <p:nvPicPr>
          <p:cNvPr id="5" name="Εικόνα 4" descr="Cars go along the highway. The movement of cars on the road with markings.  Car traffic. View from above Stock Photo - Alamy">
            <a:extLst>
              <a:ext uri="{FF2B5EF4-FFF2-40B4-BE49-F238E27FC236}">
                <a16:creationId xmlns:a16="http://schemas.microsoft.com/office/drawing/2014/main" id="{C1360BFE-5AB9-D53C-4B0F-B0A99C9096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2562" y="2619572"/>
            <a:ext cx="3645726" cy="2119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243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3DACB40-8368-FB5B-F5EA-F42E011AD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947" y="619732"/>
            <a:ext cx="9404723" cy="1400530"/>
          </a:xfrm>
        </p:spPr>
        <p:txBody>
          <a:bodyPr/>
          <a:lstStyle/>
          <a:p>
            <a:r>
              <a:rPr lang="el-GR" dirty="0"/>
              <a:t>Λειτουργία </a:t>
            </a:r>
            <a:r>
              <a:rPr lang="el-GR" dirty="0" err="1"/>
              <a:t>LiDAR</a:t>
            </a:r>
            <a:r>
              <a:rPr lang="el-GR" dirty="0"/>
              <a:t>: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BC2F1ACB-213A-1685-376C-C8FD494345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298" y="1718891"/>
            <a:ext cx="5000843" cy="4195481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l-GR" dirty="0"/>
              <a:t>Το 2D </a:t>
            </a:r>
            <a:r>
              <a:rPr lang="el-GR" dirty="0" err="1"/>
              <a:t>LiDAR</a:t>
            </a:r>
            <a:r>
              <a:rPr lang="el-GR" dirty="0"/>
              <a:t> (αυτό που μας ενδιαφέρει για αυτό το </a:t>
            </a:r>
            <a:r>
              <a:rPr lang="el-GR" dirty="0" err="1"/>
              <a:t>project</a:t>
            </a:r>
            <a:r>
              <a:rPr lang="el-GR" dirty="0"/>
              <a:t>), με χρήση </a:t>
            </a:r>
            <a:r>
              <a:rPr lang="el-GR" dirty="0" err="1"/>
              <a:t>laser</a:t>
            </a:r>
            <a:r>
              <a:rPr lang="el-GR" dirty="0"/>
              <a:t> επιστρέφει τη θέση που ήρθε σε επαφή με αντικείμενο το </a:t>
            </a:r>
            <a:r>
              <a:rPr lang="el-GR" dirty="0" err="1"/>
              <a:t>laser</a:t>
            </a:r>
            <a:r>
              <a:rPr lang="el-GR" dirty="0"/>
              <a:t>. Έτσι, το αυτόνομο  αυτοκίνητο, προκειμένου να διακρίνει μεταξύ του δρόμου και ενός αυτοκινήτου, ήταν προγραμματισμένο να περιμένει γραμμική μεταβολή στην απόσταση από σημείο σε σημείο. Έτσι, αν εμφανιζόταν κάποιο αμάξι, η απόσταση θα άλλαζε απότομα (</a:t>
            </a:r>
            <a:r>
              <a:rPr lang="el-GR" dirty="0" err="1"/>
              <a:t>breaking</a:t>
            </a:r>
            <a:r>
              <a:rPr lang="el-GR" dirty="0"/>
              <a:t> </a:t>
            </a:r>
            <a:r>
              <a:rPr lang="el-GR" dirty="0" err="1"/>
              <a:t>point</a:t>
            </a:r>
            <a:r>
              <a:rPr lang="el-GR" dirty="0"/>
              <a:t>) και θα διέκρινε το αμάξι ότι υπάρχει κάποιο εμπόδιο.</a:t>
            </a:r>
          </a:p>
        </p:txBody>
      </p:sp>
      <p:pic>
        <p:nvPicPr>
          <p:cNvPr id="5" name="Εικόνα 4" descr="Εικόνα που περιέχει κείμενο, διάγραμμα, στιγμιότυπο οθόνης, γράφημα&#10;&#10;Το περιεχόμενο που δημιουργείται από ΑΙ μπορεί να μην είναι σωστό.">
            <a:extLst>
              <a:ext uri="{FF2B5EF4-FFF2-40B4-BE49-F238E27FC236}">
                <a16:creationId xmlns:a16="http://schemas.microsoft.com/office/drawing/2014/main" id="{27F3BE49-796E-0C6B-8EC8-192E2A1255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6330" y="1649521"/>
            <a:ext cx="2507425" cy="2170657"/>
          </a:xfrm>
          <a:prstGeom prst="rect">
            <a:avLst/>
          </a:prstGeom>
        </p:spPr>
      </p:pic>
      <p:pic>
        <p:nvPicPr>
          <p:cNvPr id="6" name="Εικόνα 5" descr="Εικόνα που περιέχει σκίτσο/σχέδιο, διάγραμμα, γραμμή, ζωγραφιά&#10;&#10;Το περιεχόμενο που δημιουργείται από ΑΙ μπορεί να μην είναι σωστό.">
            <a:extLst>
              <a:ext uri="{FF2B5EF4-FFF2-40B4-BE49-F238E27FC236}">
                <a16:creationId xmlns:a16="http://schemas.microsoft.com/office/drawing/2014/main" id="{A52D37D2-C05A-0D33-C7FA-027E65BC74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588" y="4167383"/>
            <a:ext cx="3815481" cy="2166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918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EADFC1A1-9BC2-8FFF-E83F-D2AD725C6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 err="1"/>
              <a:t>LiDAR</a:t>
            </a:r>
            <a:r>
              <a:rPr lang="el-GR" dirty="0"/>
              <a:t> </a:t>
            </a:r>
            <a:r>
              <a:rPr lang="el-GR" dirty="0" err="1"/>
              <a:t>placement</a:t>
            </a:r>
            <a:r>
              <a:rPr lang="el-GR" dirty="0"/>
              <a:t>: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9A9F04EB-760A-0958-FA0F-9A11F0CD4C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0243" y="1718891"/>
            <a:ext cx="5992487" cy="4195481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l-GR" dirty="0"/>
              <a:t>Το άρθρο αναφέρει επίσης τη σημασία της σωστής τοποθέτησης του </a:t>
            </a:r>
            <a:r>
              <a:rPr lang="el-GR" err="1"/>
              <a:t>LiDAR</a:t>
            </a:r>
            <a:r>
              <a:rPr lang="el-GR" dirty="0"/>
              <a:t>. </a:t>
            </a:r>
            <a:endParaRPr lang="el-GR"/>
          </a:p>
          <a:p>
            <a:pPr>
              <a:buClr>
                <a:srgbClr val="8AD0D6"/>
              </a:buClr>
            </a:pPr>
            <a:r>
              <a:rPr lang="el-GR" dirty="0"/>
              <a:t>Η πρώτη ιδέα ήταν να τοποθέτησή του με προσανατολισμό παράλληλα προς το έδαφος, για πιο μεγάλη εικόνα του δρόμου. Όμως αυτό έχει κίνδυνο να αγνοεί χαμηλά εμπόδια. </a:t>
            </a:r>
            <a:endParaRPr lang="el-GR"/>
          </a:p>
          <a:p>
            <a:pPr>
              <a:buClr>
                <a:srgbClr val="8AD0D6"/>
              </a:buClr>
            </a:pPr>
            <a:r>
              <a:rPr lang="el-GR" dirty="0"/>
              <a:t>Η δεύτερη ιδέα ήταν η τοποθέτηση της κάμερας με γωνία προς τα κάτω.  Το πρόβλημα με αυτό ήταν η δημιουργία ενός </a:t>
            </a:r>
            <a:r>
              <a:rPr lang="el-GR" dirty="0" err="1"/>
              <a:t>blind</a:t>
            </a:r>
            <a:r>
              <a:rPr lang="el-GR" dirty="0"/>
              <a:t> </a:t>
            </a:r>
            <a:r>
              <a:rPr lang="el-GR" dirty="0" err="1"/>
              <a:t>spot</a:t>
            </a:r>
            <a:r>
              <a:rPr lang="el-GR" dirty="0"/>
              <a:t>, το οποίο δεν έβλεπε ο αισθητήρας.</a:t>
            </a:r>
          </a:p>
          <a:p>
            <a:pPr marL="0" indent="0">
              <a:buClr>
                <a:srgbClr val="8AD0D6"/>
              </a:buClr>
              <a:buNone/>
            </a:pPr>
            <a:r>
              <a:rPr lang="el-GR" dirty="0"/>
              <a:t>Η έρευνα τελικά κατέληξε στη χρήση δύο </a:t>
            </a:r>
            <a:r>
              <a:rPr lang="el-GR" err="1"/>
              <a:t>LiDAR</a:t>
            </a:r>
            <a:r>
              <a:rPr lang="el-GR" dirty="0"/>
              <a:t>(εμείς θα επιχειρήσουμε να χρησιμοποιήσουμε ένα που αλλάζει τον προσανατολισμό του με </a:t>
            </a:r>
            <a:r>
              <a:rPr lang="el-GR" err="1"/>
              <a:t>servo</a:t>
            </a:r>
            <a:r>
              <a:rPr lang="el-GR" dirty="0"/>
              <a:t>). </a:t>
            </a:r>
          </a:p>
        </p:txBody>
      </p:sp>
      <p:pic>
        <p:nvPicPr>
          <p:cNvPr id="4" name="Εικόνα 3" descr="Εικόνα που περιέχει όχημα, χερσαίο όχημα, τροχός, ελαστικό&#10;&#10;Το περιεχόμενο που δημιουργείται από ΑΙ μπορεί να μην είναι σωστό.">
            <a:extLst>
              <a:ext uri="{FF2B5EF4-FFF2-40B4-BE49-F238E27FC236}">
                <a16:creationId xmlns:a16="http://schemas.microsoft.com/office/drawing/2014/main" id="{9FADDE1E-8F4F-2028-A825-8DADC1447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82" y="1444864"/>
            <a:ext cx="4352925" cy="2486025"/>
          </a:xfrm>
          <a:prstGeom prst="rect">
            <a:avLst/>
          </a:prstGeom>
        </p:spPr>
      </p:pic>
      <p:pic>
        <p:nvPicPr>
          <p:cNvPr id="5" name="Εικόνα 4" descr="Εικόνα που περιέχει όχημα, τροχός, χερσαίο όχημα, ελαστικό&#10;&#10;Το περιεχόμενο που δημιουργείται από ΑΙ μπορεί να μην είναι σωστό.">
            <a:extLst>
              <a:ext uri="{FF2B5EF4-FFF2-40B4-BE49-F238E27FC236}">
                <a16:creationId xmlns:a16="http://schemas.microsoft.com/office/drawing/2014/main" id="{6CE00597-7DD3-A443-96F3-688E614918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745" y="4129740"/>
            <a:ext cx="4638675" cy="231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959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7248AEE-9115-1234-C9B1-293F42F80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5399" y="1152088"/>
            <a:ext cx="9404723" cy="1400530"/>
          </a:xfrm>
        </p:spPr>
        <p:txBody>
          <a:bodyPr/>
          <a:lstStyle/>
          <a:p>
            <a:r>
              <a:rPr lang="el-GR" dirty="0"/>
              <a:t>Συνδυασμός δεδομένων: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3121FB38-0B08-FD1B-D757-155552680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l-GR" dirty="0"/>
              <a:t>Τελικά το αυτοκίνητο συνυπολόγιζε τα δεδομένα που λάμβανε και ταξινομούσε τις πιθανές διαδρομές με βάση τον "κίνδυνο" που έθεταν. Το άρθρο δε </a:t>
            </a:r>
            <a:r>
              <a:rPr lang="el-GR" dirty="0" err="1"/>
              <a:t>διευκρίνιζει</a:t>
            </a:r>
            <a:r>
              <a:rPr lang="el-GR" dirty="0"/>
              <a:t> επαρκώς τον τρόπο με τον οποίο γινόταν η αξιολόγηση.</a:t>
            </a:r>
          </a:p>
        </p:txBody>
      </p:sp>
    </p:spTree>
    <p:extLst>
      <p:ext uri="{BB962C8B-B14F-4D97-AF65-F5344CB8AC3E}">
        <p14:creationId xmlns:p14="http://schemas.microsoft.com/office/powerpoint/2010/main" val="1327556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17497F79-0D00-6767-CE79-9179621A0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ΠΗΓΕΣ: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90A4A874-05F1-D0F9-D6F8-07FDEB4CD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3668" y="1332671"/>
            <a:ext cx="8946541" cy="419548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l-GR" err="1">
                <a:latin typeface="Calibri"/>
                <a:ea typeface="Calibri"/>
                <a:cs typeface="Calibri"/>
              </a:rPr>
              <a:t>Yalcin</a:t>
            </a:r>
            <a:r>
              <a:rPr lang="el-GR" dirty="0">
                <a:latin typeface="Calibri"/>
                <a:ea typeface="Calibri"/>
                <a:cs typeface="Calibri"/>
              </a:rPr>
              <a:t>, O., </a:t>
            </a:r>
            <a:r>
              <a:rPr lang="el-GR" err="1">
                <a:latin typeface="Calibri"/>
                <a:ea typeface="Calibri"/>
                <a:cs typeface="Calibri"/>
              </a:rPr>
              <a:t>Sayar</a:t>
            </a:r>
            <a:r>
              <a:rPr lang="el-GR" dirty="0">
                <a:latin typeface="Calibri"/>
                <a:ea typeface="Calibri"/>
                <a:cs typeface="Calibri"/>
              </a:rPr>
              <a:t>, A., </a:t>
            </a:r>
            <a:r>
              <a:rPr lang="el-GR" err="1">
                <a:latin typeface="Calibri"/>
                <a:ea typeface="Calibri"/>
                <a:cs typeface="Calibri"/>
              </a:rPr>
              <a:t>Arar</a:t>
            </a:r>
            <a:r>
              <a:rPr lang="el-GR" dirty="0">
                <a:latin typeface="Calibri"/>
                <a:ea typeface="Calibri"/>
                <a:cs typeface="Calibri"/>
              </a:rPr>
              <a:t>, O. F., </a:t>
            </a:r>
            <a:r>
              <a:rPr lang="el-GR" err="1">
                <a:latin typeface="Calibri"/>
                <a:ea typeface="Calibri"/>
                <a:cs typeface="Calibri"/>
              </a:rPr>
              <a:t>Akpinar</a:t>
            </a:r>
            <a:r>
              <a:rPr lang="el-GR" dirty="0">
                <a:latin typeface="Calibri"/>
                <a:ea typeface="Calibri"/>
                <a:cs typeface="Calibri"/>
              </a:rPr>
              <a:t>, S., &amp; </a:t>
            </a:r>
            <a:r>
              <a:rPr lang="el-GR" err="1">
                <a:latin typeface="Calibri"/>
                <a:ea typeface="Calibri"/>
                <a:cs typeface="Calibri"/>
              </a:rPr>
              <a:t>Kosunalp</a:t>
            </a:r>
            <a:r>
              <a:rPr lang="el-GR" dirty="0">
                <a:latin typeface="Calibri"/>
                <a:ea typeface="Calibri"/>
                <a:cs typeface="Calibri"/>
              </a:rPr>
              <a:t>, S. (2013). </a:t>
            </a:r>
            <a:r>
              <a:rPr lang="el-GR" err="1">
                <a:latin typeface="Calibri"/>
                <a:ea typeface="Calibri"/>
                <a:cs typeface="Calibri"/>
              </a:rPr>
              <a:t>Approaches</a:t>
            </a:r>
            <a:r>
              <a:rPr lang="el-GR" dirty="0">
                <a:latin typeface="Calibri"/>
                <a:ea typeface="Calibri"/>
                <a:cs typeface="Calibri"/>
              </a:rPr>
              <a:t> of </a:t>
            </a:r>
            <a:r>
              <a:rPr lang="el-GR" err="1">
                <a:latin typeface="Calibri"/>
                <a:ea typeface="Calibri"/>
                <a:cs typeface="Calibri"/>
              </a:rPr>
              <a:t>Road</a:t>
            </a:r>
            <a:r>
              <a:rPr lang="el-GR" dirty="0">
                <a:latin typeface="Calibri"/>
                <a:ea typeface="Calibri"/>
                <a:cs typeface="Calibri"/>
              </a:rPr>
              <a:t> </a:t>
            </a:r>
            <a:r>
              <a:rPr lang="el-GR" err="1">
                <a:latin typeface="Calibri"/>
                <a:ea typeface="Calibri"/>
                <a:cs typeface="Calibri"/>
              </a:rPr>
              <a:t>Boundary</a:t>
            </a:r>
            <a:r>
              <a:rPr lang="el-GR" dirty="0">
                <a:latin typeface="Calibri"/>
                <a:ea typeface="Calibri"/>
                <a:cs typeface="Calibri"/>
              </a:rPr>
              <a:t> and </a:t>
            </a:r>
            <a:r>
              <a:rPr lang="el-GR" err="1">
                <a:latin typeface="Calibri"/>
                <a:ea typeface="Calibri"/>
                <a:cs typeface="Calibri"/>
              </a:rPr>
              <a:t>Obstacle</a:t>
            </a:r>
            <a:r>
              <a:rPr lang="el-GR" dirty="0">
                <a:latin typeface="Calibri"/>
                <a:ea typeface="Calibri"/>
                <a:cs typeface="Calibri"/>
              </a:rPr>
              <a:t> </a:t>
            </a:r>
            <a:r>
              <a:rPr lang="el-GR" err="1">
                <a:latin typeface="Calibri"/>
                <a:ea typeface="Calibri"/>
                <a:cs typeface="Calibri"/>
              </a:rPr>
              <a:t>Detection</a:t>
            </a:r>
            <a:r>
              <a:rPr lang="el-GR" dirty="0">
                <a:latin typeface="Calibri"/>
                <a:ea typeface="Calibri"/>
                <a:cs typeface="Calibri"/>
              </a:rPr>
              <a:t> </a:t>
            </a:r>
            <a:r>
              <a:rPr lang="el-GR" err="1">
                <a:latin typeface="Calibri"/>
                <a:ea typeface="Calibri"/>
                <a:cs typeface="Calibri"/>
              </a:rPr>
              <a:t>Using</a:t>
            </a:r>
            <a:r>
              <a:rPr lang="el-GR" dirty="0">
                <a:latin typeface="Calibri"/>
                <a:ea typeface="Calibri"/>
                <a:cs typeface="Calibri"/>
              </a:rPr>
              <a:t> LIDAR. </a:t>
            </a:r>
            <a:r>
              <a:rPr lang="el-GR" i="1" dirty="0">
                <a:latin typeface="Calibri"/>
                <a:ea typeface="Calibri"/>
                <a:cs typeface="Calibri"/>
              </a:rPr>
              <a:t>IFAC </a:t>
            </a:r>
            <a:r>
              <a:rPr lang="el-GR" i="1" err="1">
                <a:latin typeface="Calibri"/>
                <a:ea typeface="Calibri"/>
                <a:cs typeface="Calibri"/>
              </a:rPr>
              <a:t>Proceedings</a:t>
            </a:r>
            <a:r>
              <a:rPr lang="el-GR" i="1" dirty="0">
                <a:latin typeface="Calibri"/>
                <a:ea typeface="Calibri"/>
                <a:cs typeface="Calibri"/>
              </a:rPr>
              <a:t> </a:t>
            </a:r>
            <a:r>
              <a:rPr lang="el-GR" i="1" err="1">
                <a:latin typeface="Calibri"/>
                <a:ea typeface="Calibri"/>
                <a:cs typeface="Calibri"/>
              </a:rPr>
              <a:t>Volumes</a:t>
            </a:r>
            <a:r>
              <a:rPr lang="el-GR" dirty="0">
                <a:latin typeface="Calibri"/>
                <a:ea typeface="Calibri"/>
                <a:cs typeface="Calibri"/>
              </a:rPr>
              <a:t>, </a:t>
            </a:r>
            <a:r>
              <a:rPr lang="el-GR" i="1" dirty="0">
                <a:latin typeface="Calibri"/>
                <a:ea typeface="Calibri"/>
                <a:cs typeface="Calibri"/>
              </a:rPr>
              <a:t>46</a:t>
            </a:r>
            <a:r>
              <a:rPr lang="el-GR" dirty="0">
                <a:latin typeface="Calibri"/>
                <a:ea typeface="Calibri"/>
                <a:cs typeface="Calibri"/>
              </a:rPr>
              <a:t>(25), 211–215. </a:t>
            </a:r>
            <a:r>
              <a:rPr lang="el-GR" dirty="0">
                <a:latin typeface="Calibri"/>
                <a:ea typeface="Calibri"/>
                <a:cs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https://doi.org/10.3182/20130916-2-tr-4042.00025</a:t>
            </a:r>
            <a:endParaRPr lang="el-GR"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>
              <a:buClr>
                <a:srgbClr val="8AD0D6"/>
              </a:buClr>
            </a:pPr>
            <a:endParaRPr lang="el-GR" sz="32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buClr>
                <a:srgbClr val="8AD0D6"/>
              </a:buClr>
            </a:pP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10963316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Ευρεία οθόνη</PresentationFormat>
  <Paragraphs>0</Paragraphs>
  <Slides>6</Slides>
  <Notes>0</Notes>
  <HiddenSlides>0</HiddenSlides>
  <MMClips>0</MMClips>
  <ScaleCrop>false</ScaleCrop>
  <HeadingPairs>
    <vt:vector size="4" baseType="variant">
      <vt:variant>
        <vt:lpstr>Θέμα</vt:lpstr>
      </vt:variant>
      <vt:variant>
        <vt:i4>1</vt:i4>
      </vt:variant>
      <vt:variant>
        <vt:lpstr>Τίτλοι διαφανειών</vt:lpstr>
      </vt:variant>
      <vt:variant>
        <vt:i4>6</vt:i4>
      </vt:variant>
    </vt:vector>
  </HeadingPairs>
  <TitlesOfParts>
    <vt:vector size="7" baseType="lpstr">
      <vt:lpstr>Ion</vt:lpstr>
      <vt:lpstr>ΠΑΡΟΥΣΙΑΣΗ ΑΡΘΡΟΥ:   "Approaches of Road Boundary and Obstacle Detection Using LIDAR"</vt:lpstr>
      <vt:lpstr>Είδη obstacles:</vt:lpstr>
      <vt:lpstr>Λειτουργία LiDAR:</vt:lpstr>
      <vt:lpstr>LiDAR placement:</vt:lpstr>
      <vt:lpstr>Συνδυασμός δεδομένων:</vt:lpstr>
      <vt:lpstr>ΠΗΓΕΣ: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205</cp:revision>
  <dcterms:created xsi:type="dcterms:W3CDTF">2025-12-09T14:36:56Z</dcterms:created>
  <dcterms:modified xsi:type="dcterms:W3CDTF">2025-12-09T15:19:37Z</dcterms:modified>
</cp:coreProperties>
</file>