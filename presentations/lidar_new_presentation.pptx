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1468"/>
    <a:srgbClr val="602060"/>
    <a:srgbClr val="5F1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DAF0F-6660-432F-A9EE-BDF520E151DE}" type="datetimeFigureOut"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37A42-D603-4FBA-8BCC-329AEDF380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d9efb1029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8d9efb1029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d9efb1029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8d9efb1029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d9efb1029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8d9efb1029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4759" y="1411729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Kana Fotilo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9797" y="4458417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rgbClr val="FFFFFF"/>
                </a:solidFill>
              </a:rPr>
              <a:t>Χρήστος</a:t>
            </a:r>
            <a:r>
              <a:rPr lang="en-US" dirty="0">
                <a:solidFill>
                  <a:srgbClr val="FFFFFF"/>
                </a:solidFill>
              </a:rPr>
              <a:t> Πα</a:t>
            </a:r>
            <a:r>
              <a:rPr lang="en-US" err="1">
                <a:solidFill>
                  <a:srgbClr val="FFFFFF"/>
                </a:solidFill>
              </a:rPr>
              <a:t>ύλος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Αγγελής</a:t>
            </a:r>
            <a:endParaRPr lang="en-US" dirty="0" err="1">
              <a:solidFill>
                <a:srgbClr val="FFFFFF"/>
              </a:solidFill>
            </a:endParaRPr>
          </a:p>
          <a:p>
            <a:r>
              <a:rPr lang="en-US" dirty="0" err="1"/>
              <a:t>Subteam</a:t>
            </a:r>
            <a:r>
              <a:rPr lang="en-US"/>
              <a:t> Manager of Biomed SG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838202" y="365126"/>
            <a:ext cx="3816095" cy="193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4000" b="1" dirty="0" err="1">
                <a:solidFill>
                  <a:srgbClr val="621468"/>
                </a:solidFill>
              </a:rPr>
              <a:t>Το</a:t>
            </a:r>
            <a:r>
              <a:rPr lang="en" sz="4000" b="1" dirty="0">
                <a:solidFill>
                  <a:srgbClr val="621468"/>
                </a:solidFill>
              </a:rPr>
              <a:t> π</a:t>
            </a:r>
            <a:r>
              <a:rPr lang="en" sz="4000" b="1" dirty="0" err="1">
                <a:solidFill>
                  <a:srgbClr val="621468"/>
                </a:solidFill>
              </a:rPr>
              <a:t>ρό</a:t>
            </a:r>
            <a:r>
              <a:rPr lang="en" sz="4000" b="1" dirty="0">
                <a:solidFill>
                  <a:srgbClr val="621468"/>
                </a:solidFill>
              </a:rPr>
              <a:t>β</a:t>
            </a:r>
            <a:r>
              <a:rPr lang="en" sz="4000" b="1" dirty="0" err="1">
                <a:solidFill>
                  <a:srgbClr val="621468"/>
                </a:solidFill>
              </a:rPr>
              <a:t>λημ</a:t>
            </a:r>
            <a:r>
              <a:rPr lang="en" sz="4000" b="1" dirty="0">
                <a:solidFill>
                  <a:srgbClr val="621468"/>
                </a:solidFill>
              </a:rPr>
              <a:t>α</a:t>
            </a:r>
            <a:endParaRPr lang="en-US" sz="4000" b="1">
              <a:solidFill>
                <a:srgbClr val="621468"/>
              </a:solidFill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t="10753" r="-1" b="21428"/>
          <a:stretch/>
        </p:blipFill>
        <p:spPr>
          <a:xfrm>
            <a:off x="4901340" y="1336206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 extrusionOk="0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4">
            <a:alphaModFix/>
          </a:blip>
          <a:srcRect t="6649" b="20668"/>
          <a:stretch/>
        </p:blipFill>
        <p:spPr>
          <a:xfrm>
            <a:off x="6100209" y="3501924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 extrusionOk="0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813F8B-E755-C3A8-6B8C-86B515F796C8}"/>
              </a:ext>
            </a:extLst>
          </p:cNvPr>
          <p:cNvSpPr txBox="1"/>
          <p:nvPr/>
        </p:nvSpPr>
        <p:spPr>
          <a:xfrm>
            <a:off x="1090083" y="2211916"/>
            <a:ext cx="2868083" cy="3086823"/>
          </a:xfrm>
          <a:prstGeom prst="roundRect">
            <a:avLst/>
          </a:prstGeom>
          <a:solidFill>
            <a:srgbClr val="621468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51790" indent="-342900">
              <a:lnSpc>
                <a:spcPct val="90000"/>
              </a:lnSpc>
              <a:buFont typeface="Arial,Sans-Serif"/>
              <a:buChar char="•"/>
            </a:pPr>
            <a:r>
              <a:rPr lang="en" dirty="0" err="1">
                <a:solidFill>
                  <a:srgbClr val="FFFFFF"/>
                </a:solidFill>
              </a:rPr>
              <a:t>Ελλι</a:t>
            </a:r>
            <a:r>
              <a:rPr lang="en" dirty="0">
                <a:solidFill>
                  <a:srgbClr val="FFFFFF"/>
                </a:solidFill>
              </a:rPr>
              <a:t>π</a:t>
            </a:r>
            <a:r>
              <a:rPr lang="en" dirty="0" err="1">
                <a:solidFill>
                  <a:srgbClr val="FFFFFF"/>
                </a:solidFill>
              </a:rPr>
              <a:t>είς</a:t>
            </a:r>
            <a:r>
              <a:rPr lang="en" dirty="0">
                <a:solidFill>
                  <a:srgbClr val="FFFFFF"/>
                </a:solidFill>
              </a:rPr>
              <a:t> υπ</a:t>
            </a:r>
            <a:r>
              <a:rPr lang="en" dirty="0" err="1">
                <a:solidFill>
                  <a:srgbClr val="FFFFFF"/>
                </a:solidFill>
              </a:rPr>
              <a:t>οδομές</a:t>
            </a:r>
            <a:endParaRPr lang="en-US" dirty="0" err="1"/>
          </a:p>
          <a:p>
            <a:pPr marL="351790" indent="-34290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" dirty="0" err="1">
                <a:solidFill>
                  <a:srgbClr val="FFFFFF"/>
                </a:solidFill>
              </a:rPr>
              <a:t>Μειωμένη</a:t>
            </a:r>
            <a:r>
              <a:rPr lang="en" dirty="0">
                <a:solidFill>
                  <a:srgbClr val="FFFFFF"/>
                </a:solidFill>
              </a:rPr>
              <a:t> α</a:t>
            </a:r>
            <a:r>
              <a:rPr lang="en" dirty="0" err="1">
                <a:solidFill>
                  <a:srgbClr val="FFFFFF"/>
                </a:solidFill>
              </a:rPr>
              <a:t>νεξ</a:t>
            </a:r>
            <a:r>
              <a:rPr lang="en" dirty="0">
                <a:solidFill>
                  <a:srgbClr val="FFFFFF"/>
                </a:solidFill>
              </a:rPr>
              <a:t>α</a:t>
            </a:r>
            <a:r>
              <a:rPr lang="en" dirty="0" err="1">
                <a:solidFill>
                  <a:srgbClr val="FFFFFF"/>
                </a:solidFill>
              </a:rPr>
              <a:t>ρτησί</a:t>
            </a:r>
            <a:r>
              <a:rPr lang="en" dirty="0">
                <a:solidFill>
                  <a:srgbClr val="FFFFFF"/>
                </a:solidFill>
              </a:rPr>
              <a:t>α</a:t>
            </a:r>
            <a:endParaRPr lang="en-US"/>
          </a:p>
          <a:p>
            <a:pPr marL="351790" indent="-34290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" dirty="0" err="1">
                <a:solidFill>
                  <a:srgbClr val="FFFFFF"/>
                </a:solidFill>
              </a:rPr>
              <a:t>Αντικοινωνική</a:t>
            </a:r>
            <a:r>
              <a:rPr lang="en" dirty="0">
                <a:solidFill>
                  <a:srgbClr val="FFFFFF"/>
                </a:solidFill>
              </a:rPr>
              <a:t> </a:t>
            </a:r>
            <a:r>
              <a:rPr lang="en" dirty="0" err="1">
                <a:solidFill>
                  <a:srgbClr val="FFFFFF"/>
                </a:solidFill>
              </a:rPr>
              <a:t>συμ</a:t>
            </a:r>
            <a:r>
              <a:rPr lang="en" dirty="0">
                <a:solidFill>
                  <a:srgbClr val="FFFFFF"/>
                </a:solidFill>
              </a:rPr>
              <a:t>π</a:t>
            </a:r>
            <a:r>
              <a:rPr lang="en" dirty="0" err="1">
                <a:solidFill>
                  <a:srgbClr val="FFFFFF"/>
                </a:solidFill>
              </a:rPr>
              <a:t>εριφορά</a:t>
            </a:r>
            <a:endParaRPr lang="en-US" dirty="0" err="1"/>
          </a:p>
          <a:p>
            <a:pPr marL="478790" indent="-34290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endParaRPr lang="en-US" dirty="0"/>
          </a:p>
          <a:p>
            <a:pPr marL="8890">
              <a:lnSpc>
                <a:spcPct val="90000"/>
              </a:lnSpc>
            </a:pPr>
            <a:endParaRPr lang="en" dirty="0"/>
          </a:p>
          <a:p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1371601" y="488827"/>
            <a:ext cx="9448801" cy="1047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lang="en" sz="4000" b="1" dirty="0">
                <a:solidFill>
                  <a:srgbClr val="621468"/>
                </a:solidFill>
              </a:rPr>
              <a:t>Η </a:t>
            </a:r>
            <a:r>
              <a:rPr lang="en" sz="4000" b="1" dirty="0" err="1">
                <a:solidFill>
                  <a:srgbClr val="621468"/>
                </a:solidFill>
              </a:rPr>
              <a:t>λύση</a:t>
            </a:r>
            <a:endParaRPr lang="en-US" sz="1850" b="1">
              <a:solidFill>
                <a:srgbClr val="621468"/>
              </a:solidFill>
            </a:endParaRPr>
          </a:p>
        </p:txBody>
      </p:sp>
      <p:pic>
        <p:nvPicPr>
          <p:cNvPr id="159" name="Google Shape;159;p27" descr="Blind Woman Navigates Through Construction On Stock Photo 2184427 |  Shutterstock"/>
          <p:cNvPicPr preferRelativeResize="0"/>
          <p:nvPr/>
        </p:nvPicPr>
        <p:blipFill rotWithShape="1">
          <a:blip r:embed="rId3">
            <a:alphaModFix/>
          </a:blip>
          <a:srcRect l="3350" r="23370" b="3"/>
          <a:stretch/>
        </p:blipFill>
        <p:spPr>
          <a:xfrm>
            <a:off x="3901638" y="2282538"/>
            <a:ext cx="2101095" cy="2089372"/>
          </a:xfrm>
          <a:custGeom>
            <a:avLst/>
            <a:gdLst/>
            <a:ahLst/>
            <a:cxnLst/>
            <a:rect l="l" t="t" r="r" b="b"/>
            <a:pathLst>
              <a:path w="2593464" h="2593464" extrusionOk="0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0" name="Google Shape;160;p27" descr="Too many problems? Maybe coping isn't the answer | Health &amp; wellbeing | The  Guardian"/>
          <p:cNvPicPr preferRelativeResize="0"/>
          <p:nvPr/>
        </p:nvPicPr>
        <p:blipFill rotWithShape="1">
          <a:blip r:embed="rId4">
            <a:alphaModFix/>
          </a:blip>
          <a:srcRect l="7460" r="17541" b="1"/>
          <a:stretch/>
        </p:blipFill>
        <p:spPr>
          <a:xfrm>
            <a:off x="1367305" y="2305983"/>
            <a:ext cx="2159711" cy="2147988"/>
          </a:xfrm>
          <a:custGeom>
            <a:avLst/>
            <a:gdLst/>
            <a:ahLst/>
            <a:cxnLst/>
            <a:rect l="l" t="t" r="r" b="b"/>
            <a:pathLst>
              <a:path w="2593464" h="2593464" extrusionOk="0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1" name="Google Shape;161;p27" descr="Flat/Dead Battery Icon Not Showing Up on MBP 2018 15&quot; | MacRumors Forums"/>
          <p:cNvPicPr preferRelativeResize="0"/>
          <p:nvPr/>
        </p:nvPicPr>
        <p:blipFill rotWithShape="1">
          <a:blip r:embed="rId5">
            <a:alphaModFix/>
          </a:blip>
          <a:srcRect l="17273" r="19252" b="3"/>
          <a:stretch/>
        </p:blipFill>
        <p:spPr>
          <a:xfrm>
            <a:off x="6312296" y="2305982"/>
            <a:ext cx="2171433" cy="2089373"/>
          </a:xfrm>
          <a:custGeom>
            <a:avLst/>
            <a:gdLst/>
            <a:ahLst/>
            <a:cxnLst/>
            <a:rect l="l" t="t" r="r" b="b"/>
            <a:pathLst>
              <a:path w="2593464" h="2593464" extrusionOk="0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62" name="Google Shape;162;p27"/>
          <p:cNvGrpSpPr/>
          <p:nvPr/>
        </p:nvGrpSpPr>
        <p:grpSpPr>
          <a:xfrm>
            <a:off x="1443804" y="4786970"/>
            <a:ext cx="9304392" cy="1442180"/>
            <a:chOff x="72203" y="225"/>
            <a:chExt cx="9304392" cy="1442180"/>
          </a:xfrm>
        </p:grpSpPr>
        <p:sp>
          <p:nvSpPr>
            <p:cNvPr id="163" name="Google Shape;163;p27"/>
            <p:cNvSpPr/>
            <p:nvPr/>
          </p:nvSpPr>
          <p:spPr>
            <a:xfrm>
              <a:off x="72203" y="225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288585" y="205787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324804" y="242006"/>
              <a:ext cx="1874992" cy="1164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67" tIns="72367" rIns="72367" bIns="723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Μη καθολική λύση</a:t>
              </a: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2452397" y="225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2668778" y="205787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2704997" y="242006"/>
              <a:ext cx="1874992" cy="1164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67" tIns="72367" rIns="72367" bIns="723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Κλασσικό ραβδί ελλιπές</a:t>
              </a: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4832590" y="225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5048971" y="205787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1" name="Google Shape;171;p27"/>
            <p:cNvSpPr txBox="1"/>
            <p:nvPr/>
          </p:nvSpPr>
          <p:spPr>
            <a:xfrm>
              <a:off x="5085190" y="242006"/>
              <a:ext cx="1874992" cy="1164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67" tIns="72367" rIns="72367" bIns="723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Προβληματική μοντέρνα τεχνολογία</a:t>
              </a:r>
              <a:endParaRPr sz="1467"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7212783" y="225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rgbClr val="7030A0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7429165" y="205787"/>
              <a:ext cx="1947430" cy="1236618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4" name="Google Shape;174;p27"/>
            <p:cNvSpPr txBox="1"/>
            <p:nvPr/>
          </p:nvSpPr>
          <p:spPr>
            <a:xfrm>
              <a:off x="7465384" y="242006"/>
              <a:ext cx="1874992" cy="1164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67" tIns="72367" rIns="72367" bIns="7236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867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Μίξη παραπάνω για υβριδική λύση</a:t>
              </a:r>
              <a:endPara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5" name="Google Shape;175;p27" descr="Idea - Free technology icon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82036" y="2275375"/>
            <a:ext cx="2143125" cy="2143125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7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https://raw.githubusercontent.com/ieee-sb-uniwa/lidar-cane/refs/heads/main/assets/cane.png">
            <a:extLst>
              <a:ext uri="{FF2B5EF4-FFF2-40B4-BE49-F238E27FC236}">
                <a16:creationId xmlns:a16="http://schemas.microsoft.com/office/drawing/2014/main" id="{DE3DA8A8-68AD-AAC5-C538-8F4A5D482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478" r="1421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FF7AB-7568-691A-E9F2-609946B8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" sz="4000" b="1" dirty="0" err="1">
                <a:solidFill>
                  <a:srgbClr val="621468"/>
                </a:solidFill>
                <a:latin typeface="Arial"/>
                <a:ea typeface="+mj-lt"/>
                <a:cs typeface="Arial"/>
              </a:rPr>
              <a:t>Το</a:t>
            </a:r>
            <a:r>
              <a:rPr lang="en" sz="4000" b="1" dirty="0">
                <a:solidFill>
                  <a:srgbClr val="621468"/>
                </a:solidFill>
                <a:latin typeface="Arial"/>
                <a:ea typeface="+mj-lt"/>
                <a:cs typeface="Arial"/>
              </a:rPr>
              <a:t> π</a:t>
            </a:r>
            <a:r>
              <a:rPr lang="en" sz="4000" b="1" dirty="0" err="1">
                <a:solidFill>
                  <a:srgbClr val="621468"/>
                </a:solidFill>
                <a:latin typeface="Arial"/>
                <a:ea typeface="+mj-lt"/>
                <a:cs typeface="Arial"/>
              </a:rPr>
              <a:t>ροϊον</a:t>
            </a:r>
            <a:endParaRPr lang="en-US" sz="4000" b="1">
              <a:solidFill>
                <a:srgbClr val="621468"/>
              </a:solidFill>
              <a:latin typeface="Arial"/>
              <a:ea typeface="+mj-lt"/>
              <a:cs typeface="Arial"/>
            </a:endParaRPr>
          </a:p>
          <a:p>
            <a:endParaRPr lang="en-US" sz="4000" b="1" dirty="0">
              <a:solidFill>
                <a:srgbClr val="621468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FA4C-F5AF-F356-82BE-A520EEC5CD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434201"/>
            <a:ext cx="3822189" cy="3742762"/>
          </a:xfrm>
          <a:prstGeom prst="roundRect">
            <a:avLst/>
          </a:prstGeom>
          <a:solidFill>
            <a:srgbClr val="621468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236855" indent="-236855">
              <a:spcBef>
                <a:spcPts val="0"/>
              </a:spcBef>
            </a:pPr>
            <a:r>
              <a:rPr lang="en" sz="2000">
                <a:latin typeface="Arial"/>
                <a:cs typeface="Arial"/>
              </a:rPr>
              <a:t>Αισθητήρας lidar για ανίχνευση εμποδίων</a:t>
            </a:r>
            <a:endParaRPr lang="en-US" sz="2000">
              <a:latin typeface="Arial"/>
              <a:cs typeface="Arial"/>
            </a:endParaRPr>
          </a:p>
          <a:p>
            <a:pPr marL="236855" indent="-236855">
              <a:spcBef>
                <a:spcPts val="1067"/>
              </a:spcBef>
              <a:buFont typeface="Arial,Sans-Serif" panose="020B0604020202020204" pitchFamily="34" charset="0"/>
            </a:pPr>
            <a:r>
              <a:rPr lang="en" sz="2000">
                <a:latin typeface="Arial"/>
                <a:cs typeface="Arial"/>
              </a:rPr>
              <a:t>Gps και IMU για καθοδήγηση</a:t>
            </a:r>
            <a:endParaRPr lang="en-US" sz="2000">
              <a:latin typeface="Arial"/>
              <a:cs typeface="Arial"/>
            </a:endParaRPr>
          </a:p>
          <a:p>
            <a:pPr marL="236855" indent="-236855">
              <a:spcBef>
                <a:spcPts val="1067"/>
              </a:spcBef>
              <a:buFont typeface="Arial,Sans-Serif" panose="020B0604020202020204" pitchFamily="34" charset="0"/>
            </a:pPr>
            <a:r>
              <a:rPr lang="en" sz="2000">
                <a:latin typeface="Arial"/>
                <a:cs typeface="Arial"/>
              </a:rPr>
              <a:t>Servo motor για κατευθυνση</a:t>
            </a:r>
            <a:endParaRPr lang="en-US" sz="2000">
              <a:latin typeface="Arial"/>
              <a:cs typeface="Arial"/>
            </a:endParaRPr>
          </a:p>
          <a:p>
            <a:pPr marL="236855" indent="-236855">
              <a:spcBef>
                <a:spcPts val="1067"/>
              </a:spcBef>
              <a:buFont typeface="Arial,Sans-Serif" panose="020B0604020202020204" pitchFamily="34" charset="0"/>
            </a:pPr>
            <a:r>
              <a:rPr lang="en" sz="2000">
                <a:latin typeface="Arial"/>
                <a:cs typeface="Arial"/>
              </a:rPr>
              <a:t>Κλασσικό στυλ ραβδιού </a:t>
            </a:r>
            <a:endParaRPr lang="en-US" sz="2000">
              <a:latin typeface="Arial"/>
              <a:cs typeface="Arial"/>
            </a:endParaRP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8261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B693A-B9A6-CA2B-2C1D-D2E97D07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 err="1">
                <a:solidFill>
                  <a:srgbClr val="621468"/>
                </a:solidFill>
              </a:rPr>
              <a:t>Προσωμοιωτής</a:t>
            </a:r>
            <a:endParaRPr lang="en-US" b="1" dirty="0">
              <a:solidFill>
                <a:srgbClr val="621468"/>
              </a:solidFill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229E0C1-6B1D-E508-82B3-81F67898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  <a:prstGeom prst="roundRect">
            <a:avLst/>
          </a:prstGeom>
          <a:solidFill>
            <a:srgbClr val="621468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/>
              <a:t>Πρ</a:t>
            </a:r>
            <a:r>
              <a:rPr lang="en-US" sz="2000" dirty="0"/>
              <a:t>α</a:t>
            </a:r>
            <a:r>
              <a:rPr lang="en-US" sz="2000" dirty="0" err="1"/>
              <a:t>γμ</a:t>
            </a:r>
            <a:r>
              <a:rPr lang="en-US" sz="2000" dirty="0"/>
              <a:t>α</a:t>
            </a:r>
            <a:r>
              <a:rPr lang="en-US" sz="2000" dirty="0" err="1"/>
              <a:t>τικές</a:t>
            </a:r>
            <a:r>
              <a:rPr lang="en-US" sz="2000" dirty="0"/>
              <a:t>, κα</a:t>
            </a:r>
            <a:r>
              <a:rPr lang="en-US" sz="2000" dirty="0" err="1"/>
              <a:t>θημερινές</a:t>
            </a:r>
            <a:r>
              <a:rPr lang="en-US" sz="2000" dirty="0"/>
              <a:t> </a:t>
            </a:r>
            <a:r>
              <a:rPr lang="en-US" sz="2000" dirty="0" err="1"/>
              <a:t>συνθήκες</a:t>
            </a:r>
          </a:p>
          <a:p>
            <a:r>
              <a:rPr lang="en-US" sz="2000" dirty="0" err="1"/>
              <a:t>Λειτουργί</a:t>
            </a:r>
            <a:r>
              <a:rPr lang="en-US" sz="2000" dirty="0"/>
              <a:t>α </a:t>
            </a:r>
            <a:r>
              <a:rPr lang="en-US" sz="2000" dirty="0" err="1"/>
              <a:t>με</a:t>
            </a:r>
            <a:r>
              <a:rPr lang="en-US" sz="2000" dirty="0"/>
              <a:t> β</a:t>
            </a:r>
            <a:r>
              <a:rPr lang="en-US" sz="2000" dirty="0" err="1"/>
              <a:t>άση</a:t>
            </a:r>
            <a:r>
              <a:rPr lang="en-US" sz="2000" dirty="0"/>
              <a:t> κα</a:t>
            </a:r>
            <a:r>
              <a:rPr lang="en-US" sz="2000" dirty="0" err="1"/>
              <a:t>νονικής</a:t>
            </a:r>
            <a:r>
              <a:rPr lang="en-US" sz="2000" dirty="0"/>
              <a:t> </a:t>
            </a:r>
            <a:r>
              <a:rPr lang="en-US" sz="2000" dirty="0" err="1"/>
              <a:t>χρήσης</a:t>
            </a:r>
            <a:r>
              <a:rPr lang="en-US" sz="2000" dirty="0"/>
              <a:t> ραβ</a:t>
            </a:r>
            <a:r>
              <a:rPr lang="en-US" sz="2000" dirty="0" err="1"/>
              <a:t>διού</a:t>
            </a:r>
          </a:p>
          <a:p>
            <a:r>
              <a:rPr lang="en-US" sz="2000" dirty="0" err="1"/>
              <a:t>Ενδιάμεσο</a:t>
            </a:r>
            <a:r>
              <a:rPr lang="en-US" sz="2000" dirty="0"/>
              <a:t> β</a:t>
            </a:r>
            <a:r>
              <a:rPr lang="en-US" sz="2000" dirty="0" err="1"/>
              <a:t>ήμ</a:t>
            </a:r>
            <a:r>
              <a:rPr lang="en-US" sz="2000" dirty="0"/>
              <a:t>α </a:t>
            </a:r>
            <a:r>
              <a:rPr lang="en-US" sz="2000" dirty="0" err="1"/>
              <a:t>γι</a:t>
            </a:r>
            <a:r>
              <a:rPr lang="en-US" sz="2000" dirty="0"/>
              <a:t>α </a:t>
            </a:r>
            <a:r>
              <a:rPr lang="en-US" sz="2000" dirty="0" err="1"/>
              <a:t>την</a:t>
            </a:r>
            <a:r>
              <a:rPr lang="en-US" sz="2000" dirty="0"/>
              <a:t> </a:t>
            </a:r>
            <a:r>
              <a:rPr lang="en-US" sz="2000" dirty="0" err="1"/>
              <a:t>λειτουργί</a:t>
            </a:r>
            <a:r>
              <a:rPr lang="en-US" sz="2000" dirty="0"/>
              <a:t>α </a:t>
            </a:r>
            <a:r>
              <a:rPr lang="en-US" sz="2000" dirty="0" err="1"/>
              <a:t>του</a:t>
            </a:r>
            <a:r>
              <a:rPr lang="en-US" sz="2000" dirty="0"/>
              <a:t> π</a:t>
            </a:r>
            <a:r>
              <a:rPr lang="en-US" sz="2000" dirty="0" err="1"/>
              <a:t>ροϊόντος</a:t>
            </a:r>
            <a:r>
              <a:rPr lang="en-US" sz="2000" dirty="0"/>
              <a:t>.</a:t>
            </a:r>
          </a:p>
        </p:txBody>
      </p:sp>
      <p:pic>
        <p:nvPicPr>
          <p:cNvPr id="12" name="Picture 11" descr="A 3d model of a house&#10;&#10;AI-generated content may be incorrect.">
            <a:extLst>
              <a:ext uri="{FF2B5EF4-FFF2-40B4-BE49-F238E27FC236}">
                <a16:creationId xmlns:a16="http://schemas.microsoft.com/office/drawing/2014/main" id="{2AB56AC1-C4D1-CD6B-0B8D-8A7AAAA77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32" t="-3667" r="16425" b="4000"/>
          <a:stretch>
            <a:fillRect/>
          </a:stretch>
        </p:blipFill>
        <p:spPr>
          <a:xfrm>
            <a:off x="8452968" y="3681465"/>
            <a:ext cx="3746605" cy="3166076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004EF8F-725E-CC48-DCE7-298FE5E1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6" r="-3" b="-3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FCB6BBF-C776-8354-46AB-067D420560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13" r="27158" b="-2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295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9" descr="A blue and red circle with white circles and a diamond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125236" y="514514"/>
            <a:ext cx="3941528" cy="55710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3546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Kana Fotilo</vt:lpstr>
      <vt:lpstr>Το πρόβλημα</vt:lpstr>
      <vt:lpstr>Η λύση</vt:lpstr>
      <vt:lpstr>Το προϊον </vt:lpstr>
      <vt:lpstr>Προσωμοιωτής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150</cp:revision>
  <dcterms:created xsi:type="dcterms:W3CDTF">2025-12-14T23:21:42Z</dcterms:created>
  <dcterms:modified xsi:type="dcterms:W3CDTF">2025-12-25T12:40:11Z</dcterms:modified>
</cp:coreProperties>
</file>